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5" r:id="rId3"/>
    <p:sldId id="301" r:id="rId4"/>
    <p:sldId id="273" r:id="rId6"/>
    <p:sldId id="309" r:id="rId7"/>
    <p:sldId id="314" r:id="rId8"/>
    <p:sldId id="315" r:id="rId9"/>
    <p:sldId id="316" r:id="rId10"/>
    <p:sldId id="317" r:id="rId11"/>
    <p:sldId id="318" r:id="rId12"/>
    <p:sldId id="319" r:id="rId13"/>
    <p:sldId id="306" r:id="rId14"/>
    <p:sldId id="307" r:id="rId15"/>
    <p:sldId id="320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543"/>
    <a:srgbClr val="005744"/>
    <a:srgbClr val="003300"/>
    <a:srgbClr val="016DB2"/>
    <a:srgbClr val="20936A"/>
    <a:srgbClr val="10345A"/>
    <a:srgbClr val="DA0E2C"/>
    <a:srgbClr val="006DB2"/>
    <a:srgbClr val="ECD37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6" autoAdjust="0"/>
    <p:restoredTop sz="94660"/>
  </p:normalViewPr>
  <p:slideViewPr>
    <p:cSldViewPr snapToGrid="0">
      <p:cViewPr>
        <p:scale>
          <a:sx n="72" d="100"/>
          <a:sy n="72" d="100"/>
        </p:scale>
        <p:origin x="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5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（无图使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未标题-4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830" y="4502150"/>
            <a:ext cx="11521440" cy="235585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531273" y="1514898"/>
            <a:ext cx="7224995" cy="712054"/>
          </a:xfrm>
        </p:spPr>
        <p:txBody>
          <a:bodyPr anchor="b">
            <a:noAutofit/>
          </a:bodyPr>
          <a:lstStyle>
            <a:lvl1pPr algn="l">
              <a:defRPr sz="4600" b="1">
                <a:solidFill>
                  <a:srgbClr val="00574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国防科技大学幻灯片标题</a:t>
            </a:r>
            <a:endParaRPr lang="zh-CN" altLang="en-US" dirty="0"/>
          </a:p>
        </p:txBody>
      </p:sp>
      <p:sp>
        <p:nvSpPr>
          <p:cNvPr id="1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31273" y="2437016"/>
            <a:ext cx="4049089" cy="577458"/>
          </a:xfrm>
        </p:spPr>
        <p:txBody>
          <a:bodyPr>
            <a:normAutofit/>
          </a:bodyPr>
          <a:lstStyle>
            <a:lvl1pPr marL="0" indent="0" algn="l">
              <a:buNone/>
              <a:defRPr sz="3300">
                <a:solidFill>
                  <a:srgbClr val="00574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副标题编辑区域位置</a:t>
            </a:r>
            <a:endParaRPr lang="zh-CN" altLang="en-US" dirty="0"/>
          </a:p>
        </p:txBody>
      </p:sp>
      <p:sp>
        <p:nvSpPr>
          <p:cNvPr id="12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531273" y="570584"/>
            <a:ext cx="2187632" cy="308529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8787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  <a:endParaRPr lang="zh-CN" altLang="en-US" dirty="0"/>
          </a:p>
        </p:txBody>
      </p:sp>
      <p:pic>
        <p:nvPicPr>
          <p:cNvPr id="4" name="图片 3" descr="未标题-4-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6590" y="2212340"/>
            <a:ext cx="6365240" cy="882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（有图使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4-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8425" y="-52070"/>
            <a:ext cx="12389485" cy="6962140"/>
          </a:xfrm>
          <a:prstGeom prst="rect">
            <a:avLst/>
          </a:prstGeom>
        </p:spPr>
      </p:pic>
      <p:sp>
        <p:nvSpPr>
          <p:cNvPr id="6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531273" y="570584"/>
            <a:ext cx="2187632" cy="308529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531273" y="1514898"/>
            <a:ext cx="7224995" cy="712054"/>
          </a:xfrm>
        </p:spPr>
        <p:txBody>
          <a:bodyPr anchor="b">
            <a:noAutofit/>
          </a:bodyPr>
          <a:lstStyle>
            <a:lvl1pPr algn="l">
              <a:defRPr sz="4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国防科技大学幻灯片标题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31273" y="2437016"/>
            <a:ext cx="4049089" cy="577458"/>
          </a:xfrm>
        </p:spPr>
        <p:txBody>
          <a:bodyPr>
            <a:normAutofit/>
          </a:bodyPr>
          <a:lstStyle>
            <a:lvl1pPr marL="0" indent="0" algn="l">
              <a:buNone/>
              <a:defRPr sz="3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副标题编辑区域位置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未标题-4-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620"/>
            <a:ext cx="12192000" cy="6850380"/>
          </a:xfrm>
          <a:prstGeom prst="rect">
            <a:avLst/>
          </a:prstGeom>
        </p:spPr>
      </p:pic>
      <p:sp>
        <p:nvSpPr>
          <p:cNvPr id="4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539296" y="2845253"/>
            <a:ext cx="962932" cy="583747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" name="文本占位符 16"/>
          <p:cNvSpPr>
            <a:spLocks noGrp="1"/>
          </p:cNvSpPr>
          <p:nvPr>
            <p:ph type="body" sz="quarter" idx="12" hasCustomPrompt="1"/>
          </p:nvPr>
        </p:nvSpPr>
        <p:spPr>
          <a:xfrm>
            <a:off x="539296" y="3654895"/>
            <a:ext cx="2529454" cy="287911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标题编辑区域位置</a:t>
            </a:r>
            <a:endParaRPr lang="zh-CN" altLang="en-US" dirty="0"/>
          </a:p>
        </p:txBody>
      </p:sp>
      <p:sp>
        <p:nvSpPr>
          <p:cNvPr id="6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539296" y="4019729"/>
            <a:ext cx="2252889" cy="55172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300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目录文本 </a:t>
            </a:r>
            <a:r>
              <a:rPr lang="en-US" altLang="zh-CN" dirty="0"/>
              <a:t>1-01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目录文本 </a:t>
            </a:r>
            <a:r>
              <a:rPr lang="en-US" altLang="zh-CN" dirty="0"/>
              <a:t>1-02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12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3492046" y="2845253"/>
            <a:ext cx="962932" cy="583747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3" name="文本占位符 16"/>
          <p:cNvSpPr>
            <a:spLocks noGrp="1"/>
          </p:cNvSpPr>
          <p:nvPr>
            <p:ph type="body" sz="quarter" idx="15" hasCustomPrompt="1"/>
          </p:nvPr>
        </p:nvSpPr>
        <p:spPr>
          <a:xfrm>
            <a:off x="3492046" y="3654895"/>
            <a:ext cx="2529454" cy="287911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标题编辑区域位置</a:t>
            </a:r>
            <a:endParaRPr lang="zh-CN" altLang="en-US" dirty="0"/>
          </a:p>
        </p:txBody>
      </p:sp>
      <p:sp>
        <p:nvSpPr>
          <p:cNvPr id="14" name="文本占位符 18"/>
          <p:cNvSpPr>
            <a:spLocks noGrp="1"/>
          </p:cNvSpPr>
          <p:nvPr>
            <p:ph type="body" sz="quarter" idx="16" hasCustomPrompt="1"/>
          </p:nvPr>
        </p:nvSpPr>
        <p:spPr>
          <a:xfrm>
            <a:off x="3492046" y="4019729"/>
            <a:ext cx="2252889" cy="55172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300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目录文本 </a:t>
            </a:r>
            <a:r>
              <a:rPr lang="en-US" altLang="zh-CN" dirty="0"/>
              <a:t>2-01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目录文本 </a:t>
            </a:r>
            <a:r>
              <a:rPr lang="en-US" altLang="zh-CN" dirty="0"/>
              <a:t>2-02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7" hasCustomPrompt="1"/>
          </p:nvPr>
        </p:nvSpPr>
        <p:spPr>
          <a:xfrm>
            <a:off x="6444796" y="2845253"/>
            <a:ext cx="962932" cy="583747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6" name="文本占位符 16"/>
          <p:cNvSpPr>
            <a:spLocks noGrp="1"/>
          </p:cNvSpPr>
          <p:nvPr>
            <p:ph type="body" sz="quarter" idx="18" hasCustomPrompt="1"/>
          </p:nvPr>
        </p:nvSpPr>
        <p:spPr>
          <a:xfrm>
            <a:off x="6444796" y="3654895"/>
            <a:ext cx="2529454" cy="287911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标题编辑区域位置</a:t>
            </a:r>
            <a:endParaRPr lang="zh-CN" altLang="en-US" dirty="0"/>
          </a:p>
        </p:txBody>
      </p:sp>
      <p:sp>
        <p:nvSpPr>
          <p:cNvPr id="17" name="文本占位符 18"/>
          <p:cNvSpPr>
            <a:spLocks noGrp="1"/>
          </p:cNvSpPr>
          <p:nvPr>
            <p:ph type="body" sz="quarter" idx="19" hasCustomPrompt="1"/>
          </p:nvPr>
        </p:nvSpPr>
        <p:spPr>
          <a:xfrm>
            <a:off x="6444796" y="4019729"/>
            <a:ext cx="2252889" cy="55172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300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目录文本 </a:t>
            </a:r>
            <a:r>
              <a:rPr lang="en-US" altLang="zh-CN" dirty="0"/>
              <a:t>3-01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目录文本 </a:t>
            </a:r>
            <a:r>
              <a:rPr lang="en-US" altLang="zh-CN" dirty="0"/>
              <a:t>3-02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18" name="文本占位符 14"/>
          <p:cNvSpPr>
            <a:spLocks noGrp="1"/>
          </p:cNvSpPr>
          <p:nvPr>
            <p:ph type="body" sz="quarter" idx="20" hasCustomPrompt="1"/>
          </p:nvPr>
        </p:nvSpPr>
        <p:spPr>
          <a:xfrm>
            <a:off x="9397546" y="2845253"/>
            <a:ext cx="962932" cy="583747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9" name="文本占位符 16"/>
          <p:cNvSpPr>
            <a:spLocks noGrp="1"/>
          </p:cNvSpPr>
          <p:nvPr>
            <p:ph type="body" sz="quarter" idx="21" hasCustomPrompt="1"/>
          </p:nvPr>
        </p:nvSpPr>
        <p:spPr>
          <a:xfrm>
            <a:off x="9397546" y="3654895"/>
            <a:ext cx="2529454" cy="287911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标题编辑区域位置</a:t>
            </a:r>
            <a:endParaRPr lang="zh-CN" altLang="en-US" dirty="0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22" hasCustomPrompt="1"/>
          </p:nvPr>
        </p:nvSpPr>
        <p:spPr>
          <a:xfrm>
            <a:off x="9397546" y="4019729"/>
            <a:ext cx="2252889" cy="55172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300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目录文本 </a:t>
            </a:r>
            <a:r>
              <a:rPr lang="en-US" altLang="zh-CN" dirty="0"/>
              <a:t>4-01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目录文本 </a:t>
            </a:r>
            <a:r>
              <a:rPr lang="en-US" altLang="zh-CN" dirty="0"/>
              <a:t>4-02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pic>
        <p:nvPicPr>
          <p:cNvPr id="24" name="图片 23" descr="未标题-4-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636270" y="3477895"/>
            <a:ext cx="2253615" cy="76200"/>
          </a:xfrm>
          <a:prstGeom prst="rect">
            <a:avLst/>
          </a:prstGeom>
        </p:spPr>
      </p:pic>
      <p:pic>
        <p:nvPicPr>
          <p:cNvPr id="25" name="图片 24" descr="未标题-4-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3575685" y="3449320"/>
            <a:ext cx="2253615" cy="76200"/>
          </a:xfrm>
          <a:prstGeom prst="rect">
            <a:avLst/>
          </a:prstGeom>
        </p:spPr>
      </p:pic>
      <p:pic>
        <p:nvPicPr>
          <p:cNvPr id="26" name="图片 25" descr="未标题-4-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6527800" y="3429000"/>
            <a:ext cx="2253615" cy="76200"/>
          </a:xfrm>
          <a:prstGeom prst="rect">
            <a:avLst/>
          </a:prstGeom>
        </p:spPr>
      </p:pic>
      <p:pic>
        <p:nvPicPr>
          <p:cNvPr id="27" name="图片 26" descr="未标题-4-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9479915" y="3429000"/>
            <a:ext cx="2253615" cy="76200"/>
          </a:xfrm>
          <a:prstGeom prst="rect">
            <a:avLst/>
          </a:prstGeom>
        </p:spPr>
      </p:pic>
      <p:sp>
        <p:nvSpPr>
          <p:cNvPr id="28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539115" y="360680"/>
            <a:ext cx="4130675" cy="1268095"/>
          </a:xfrm>
        </p:spPr>
        <p:txBody>
          <a:bodyPr>
            <a:normAutofit/>
          </a:bodyPr>
          <a:lstStyle>
            <a:lvl1pPr marL="0" indent="0">
              <a:buNone/>
              <a:defRPr sz="3800" b="1">
                <a:solidFill>
                  <a:srgbClr val="00574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ctrTitle" hasCustomPrompt="1"/>
          </p:nvPr>
        </p:nvSpPr>
        <p:spPr>
          <a:xfrm>
            <a:off x="522911" y="3148369"/>
            <a:ext cx="4555274" cy="712054"/>
          </a:xfrm>
        </p:spPr>
        <p:txBody>
          <a:bodyPr anchor="b">
            <a:noAutofit/>
          </a:bodyPr>
          <a:lstStyle>
            <a:lvl1pPr algn="l">
              <a:defRPr sz="3800" b="1">
                <a:solidFill>
                  <a:srgbClr val="00574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大标题编辑区域位置</a:t>
            </a:r>
            <a:endParaRPr lang="zh-CN" altLang="en-US" dirty="0"/>
          </a:p>
        </p:txBody>
      </p:sp>
      <p:sp>
        <p:nvSpPr>
          <p:cNvPr id="7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22911" y="3877375"/>
            <a:ext cx="4049089" cy="664469"/>
          </a:xfrm>
        </p:spPr>
        <p:txBody>
          <a:bodyPr>
            <a:normAutofit/>
          </a:bodyPr>
          <a:lstStyle>
            <a:lvl1pPr marL="0" indent="0" algn="l">
              <a:buNone/>
              <a:defRPr sz="2700">
                <a:solidFill>
                  <a:srgbClr val="00574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副标题编辑区域位置</a:t>
            </a:r>
            <a:endParaRPr lang="zh-CN" altLang="en-US" dirty="0"/>
          </a:p>
        </p:txBody>
      </p:sp>
      <p:sp>
        <p:nvSpPr>
          <p:cNvPr id="9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522911" y="2190683"/>
            <a:ext cx="3314247" cy="699474"/>
          </a:xfrm>
        </p:spPr>
        <p:txBody>
          <a:bodyPr>
            <a:noAutofit/>
          </a:bodyPr>
          <a:lstStyle>
            <a:lvl1pPr marL="0" indent="0">
              <a:buNone/>
              <a:defRPr sz="4800" b="1">
                <a:solidFill>
                  <a:srgbClr val="00574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PART 01</a:t>
            </a:r>
            <a:endParaRPr lang="zh-CN" altLang="en-US" dirty="0"/>
          </a:p>
        </p:txBody>
      </p:sp>
      <p:pic>
        <p:nvPicPr>
          <p:cNvPr id="4" name="图片 3" descr="未标题-4-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6590" y="2964180"/>
            <a:ext cx="4262120" cy="88265"/>
          </a:xfrm>
          <a:prstGeom prst="rect">
            <a:avLst/>
          </a:prstGeom>
        </p:spPr>
      </p:pic>
      <p:pic>
        <p:nvPicPr>
          <p:cNvPr id="3" name="图片 2" descr="插画_画板 1"/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5725160"/>
            <a:ext cx="12192000" cy="1177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单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/Users/chenyirui/Desktop/未标题-4-16.png未标题-4-1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3810"/>
            <a:ext cx="12216130" cy="6850380"/>
          </a:xfrm>
          <a:prstGeom prst="rect">
            <a:avLst/>
          </a:prstGeom>
        </p:spPr>
      </p:pic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97600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78355" y="4401606"/>
            <a:ext cx="2632236" cy="835414"/>
          </a:xfrm>
        </p:spPr>
        <p:txBody>
          <a:bodyPr/>
          <a:lstStyle>
            <a:lvl1pPr marL="0" indent="0">
              <a:lnSpc>
                <a:spcPts val="2500"/>
              </a:lnSpc>
              <a:buNone/>
              <a:defRPr b="1">
                <a:solidFill>
                  <a:srgbClr val="01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大标题编辑</a:t>
            </a:r>
            <a:endParaRPr lang="en-US" altLang="zh-CN" dirty="0"/>
          </a:p>
          <a:p>
            <a:pPr lvl="0"/>
            <a:r>
              <a:rPr lang="zh-CN" altLang="en-US" dirty="0"/>
              <a:t>区域位置</a:t>
            </a:r>
            <a:endParaRPr lang="zh-CN" altLang="en-US" dirty="0"/>
          </a:p>
        </p:txBody>
      </p:sp>
      <p:sp>
        <p:nvSpPr>
          <p:cNvPr id="19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278355" y="5277290"/>
            <a:ext cx="2881224" cy="361008"/>
          </a:xfrm>
        </p:spPr>
        <p:txBody>
          <a:bodyPr>
            <a:normAutofit/>
          </a:bodyPr>
          <a:lstStyle>
            <a:lvl1pPr marL="0" indent="0">
              <a:buNone/>
              <a:defRPr sz="1900">
                <a:solidFill>
                  <a:srgbClr val="3D3D3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正文副标题标题文字区域</a:t>
            </a:r>
            <a:endParaRPr lang="zh-CN" altLang="en-US" dirty="0"/>
          </a:p>
        </p:txBody>
      </p:sp>
      <p:sp>
        <p:nvSpPr>
          <p:cNvPr id="20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3714155" y="4352287"/>
            <a:ext cx="3659233" cy="198301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7770444" y="4352287"/>
            <a:ext cx="3617992" cy="198301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10931237" y="6658281"/>
            <a:ext cx="1105592" cy="199719"/>
          </a:xfrm>
        </p:spPr>
        <p:txBody>
          <a:bodyPr>
            <a:normAutofit/>
          </a:bodyPr>
          <a:lstStyle>
            <a:lvl1pPr marL="0" indent="0">
              <a:buNone/>
              <a:defRPr sz="8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  <a:endParaRPr lang="zh-CN" altLang="en-US" dirty="0"/>
          </a:p>
        </p:txBody>
      </p:sp>
      <p:pic>
        <p:nvPicPr>
          <p:cNvPr id="3" name="图片 2" descr="插画_画板 1"/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5498465"/>
            <a:ext cx="12192000" cy="1177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多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/Users/chenyirui/Desktop/未标题-4-16.png未标题-4-1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3810"/>
            <a:ext cx="12216130" cy="6850380"/>
          </a:xfrm>
          <a:prstGeom prst="rect">
            <a:avLst/>
          </a:prstGeom>
        </p:spPr>
      </p:pic>
      <p:sp>
        <p:nvSpPr>
          <p:cNvPr id="3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10931237" y="6658281"/>
            <a:ext cx="1105592" cy="199719"/>
          </a:xfrm>
        </p:spPr>
        <p:txBody>
          <a:bodyPr>
            <a:normAutofit/>
          </a:bodyPr>
          <a:lstStyle>
            <a:lvl1pPr marL="0" indent="0">
              <a:buNone/>
              <a:defRPr sz="8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  <a:endParaRPr lang="zh-CN" altLang="en-US" dirty="0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359683" y="1828799"/>
            <a:ext cx="3600450" cy="22129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图片占位符 7"/>
          <p:cNvSpPr>
            <a:spLocks noGrp="1"/>
          </p:cNvSpPr>
          <p:nvPr>
            <p:ph type="pic" sz="quarter" idx="11"/>
          </p:nvPr>
        </p:nvSpPr>
        <p:spPr>
          <a:xfrm>
            <a:off x="4250985" y="1828798"/>
            <a:ext cx="3600450" cy="22129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图片占位符 7"/>
          <p:cNvSpPr>
            <a:spLocks noGrp="1"/>
          </p:cNvSpPr>
          <p:nvPr>
            <p:ph type="pic" sz="quarter" idx="12"/>
          </p:nvPr>
        </p:nvSpPr>
        <p:spPr>
          <a:xfrm>
            <a:off x="8142287" y="1828797"/>
            <a:ext cx="3600450" cy="221297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359683" y="408212"/>
            <a:ext cx="3690030" cy="506187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正文标题文字区域</a:t>
            </a:r>
            <a:endParaRPr lang="zh-CN" altLang="en-US" dirty="0"/>
          </a:p>
        </p:txBody>
      </p:sp>
      <p:sp>
        <p:nvSpPr>
          <p:cNvPr id="1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9683" y="938890"/>
            <a:ext cx="3285755" cy="38372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34343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正文副标题标题文字区域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359683" y="4344082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59683" y="4752296"/>
            <a:ext cx="3380490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24" name="文本占位符 15"/>
          <p:cNvSpPr>
            <a:spLocks noGrp="1"/>
          </p:cNvSpPr>
          <p:nvPr>
            <p:ph type="body" sz="quarter" idx="15" hasCustomPrompt="1"/>
          </p:nvPr>
        </p:nvSpPr>
        <p:spPr>
          <a:xfrm>
            <a:off x="4250985" y="4360521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4250985" y="4768735"/>
            <a:ext cx="3380490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26" name="文本占位符 15"/>
          <p:cNvSpPr>
            <a:spLocks noGrp="1"/>
          </p:cNvSpPr>
          <p:nvPr>
            <p:ph type="body" sz="quarter" idx="17" hasCustomPrompt="1"/>
          </p:nvPr>
        </p:nvSpPr>
        <p:spPr>
          <a:xfrm>
            <a:off x="8142287" y="4360521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27" name="文本占位符 17"/>
          <p:cNvSpPr>
            <a:spLocks noGrp="1"/>
          </p:cNvSpPr>
          <p:nvPr>
            <p:ph type="body" sz="quarter" idx="18" hasCustomPrompt="1"/>
          </p:nvPr>
        </p:nvSpPr>
        <p:spPr>
          <a:xfrm>
            <a:off x="8142287" y="4768735"/>
            <a:ext cx="3380490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图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/Users/chenyirui/Desktop/未标题-4-16.png未标题-4-1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3810"/>
            <a:ext cx="12216130" cy="6850380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ctrTitle" hasCustomPrompt="1"/>
          </p:nvPr>
        </p:nvSpPr>
        <p:spPr>
          <a:xfrm>
            <a:off x="359683" y="408212"/>
            <a:ext cx="3690030" cy="506187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正文标题文字区域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9683" y="938890"/>
            <a:ext cx="3285755" cy="38372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34343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正文副标题标题文字区域</a:t>
            </a:r>
            <a:endParaRPr lang="zh-CN" altLang="en-US" dirty="0"/>
          </a:p>
        </p:txBody>
      </p:sp>
      <p:sp>
        <p:nvSpPr>
          <p:cNvPr id="5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837918" y="2402550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37918" y="2821102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13" name="文本占位符 15"/>
          <p:cNvSpPr>
            <a:spLocks noGrp="1"/>
          </p:cNvSpPr>
          <p:nvPr>
            <p:ph type="body" sz="quarter" idx="15" hasCustomPrompt="1"/>
          </p:nvPr>
        </p:nvSpPr>
        <p:spPr>
          <a:xfrm>
            <a:off x="5837918" y="4214417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17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37918" y="4632969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18" name="图表占位符 17"/>
          <p:cNvSpPr>
            <a:spLocks noGrp="1"/>
          </p:cNvSpPr>
          <p:nvPr>
            <p:ph type="chart" sz="quarter" idx="17"/>
          </p:nvPr>
        </p:nvSpPr>
        <p:spPr>
          <a:xfrm>
            <a:off x="359683" y="1938338"/>
            <a:ext cx="5033055" cy="38940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10931237" y="6658281"/>
            <a:ext cx="1105592" cy="199719"/>
          </a:xfrm>
        </p:spPr>
        <p:txBody>
          <a:bodyPr>
            <a:normAutofit/>
          </a:bodyPr>
          <a:lstStyle>
            <a:lvl1pPr marL="0" indent="0">
              <a:buNone/>
              <a:defRPr sz="8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  <a:endParaRPr lang="zh-CN" altLang="en-US" dirty="0"/>
          </a:p>
        </p:txBody>
      </p:sp>
      <p:pic>
        <p:nvPicPr>
          <p:cNvPr id="2" name="图片 1" descr="插画_画板 1"/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5498465"/>
            <a:ext cx="12192000" cy="1177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无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/Users/chenyirui/Desktop/未标题-4-16.png未标题-4-1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3810"/>
            <a:ext cx="12216130" cy="6850380"/>
          </a:xfrm>
          <a:prstGeom prst="rect">
            <a:avLst/>
          </a:prstGeom>
        </p:spPr>
      </p:pic>
      <p:sp>
        <p:nvSpPr>
          <p:cNvPr id="3" name="文本占位符 23"/>
          <p:cNvSpPr>
            <a:spLocks noGrp="1"/>
          </p:cNvSpPr>
          <p:nvPr>
            <p:ph type="body" sz="quarter" idx="21" hasCustomPrompt="1"/>
          </p:nvPr>
        </p:nvSpPr>
        <p:spPr>
          <a:xfrm>
            <a:off x="10931237" y="6658281"/>
            <a:ext cx="1105592" cy="199719"/>
          </a:xfrm>
        </p:spPr>
        <p:txBody>
          <a:bodyPr>
            <a:normAutofit/>
          </a:bodyPr>
          <a:lstStyle>
            <a:lvl1pPr marL="0" indent="0">
              <a:buNone/>
              <a:defRPr sz="8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359683" y="408212"/>
            <a:ext cx="3690030" cy="506187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正文标题文字区域</a:t>
            </a:r>
            <a:endParaRPr lang="zh-CN" altLang="en-US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9683" y="938890"/>
            <a:ext cx="3285755" cy="38372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34343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正文副标题标题文字区域</a:t>
            </a:r>
            <a:endParaRPr lang="zh-CN" altLang="en-US" dirty="0"/>
          </a:p>
        </p:txBody>
      </p:sp>
      <p:sp>
        <p:nvSpPr>
          <p:cNvPr id="6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359683" y="2270348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59683" y="2688900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20" name="文本占位符 15"/>
          <p:cNvSpPr>
            <a:spLocks noGrp="1"/>
          </p:cNvSpPr>
          <p:nvPr>
            <p:ph type="body" sz="quarter" idx="15" hasCustomPrompt="1"/>
          </p:nvPr>
        </p:nvSpPr>
        <p:spPr>
          <a:xfrm>
            <a:off x="6275841" y="2270348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6" hasCustomPrompt="1"/>
          </p:nvPr>
        </p:nvSpPr>
        <p:spPr>
          <a:xfrm>
            <a:off x="6275841" y="2688900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22" name="文本占位符 15"/>
          <p:cNvSpPr>
            <a:spLocks noGrp="1"/>
          </p:cNvSpPr>
          <p:nvPr>
            <p:ph type="body" sz="quarter" idx="17" hasCustomPrompt="1"/>
          </p:nvPr>
        </p:nvSpPr>
        <p:spPr>
          <a:xfrm>
            <a:off x="359683" y="4443216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23" name="文本占位符 17"/>
          <p:cNvSpPr>
            <a:spLocks noGrp="1"/>
          </p:cNvSpPr>
          <p:nvPr>
            <p:ph type="body" sz="quarter" idx="18" hasCustomPrompt="1"/>
          </p:nvPr>
        </p:nvSpPr>
        <p:spPr>
          <a:xfrm>
            <a:off x="359683" y="4861768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sp>
        <p:nvSpPr>
          <p:cNvPr id="24" name="文本占位符 15"/>
          <p:cNvSpPr>
            <a:spLocks noGrp="1"/>
          </p:cNvSpPr>
          <p:nvPr>
            <p:ph type="body" sz="quarter" idx="19" hasCustomPrompt="1"/>
          </p:nvPr>
        </p:nvSpPr>
        <p:spPr>
          <a:xfrm>
            <a:off x="6275841" y="4421412"/>
            <a:ext cx="1819955" cy="285524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rgbClr val="0258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20" hasCustomPrompt="1"/>
          </p:nvPr>
        </p:nvSpPr>
        <p:spPr>
          <a:xfrm>
            <a:off x="6275841" y="4839964"/>
            <a:ext cx="5298168" cy="119946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此处为模拟文字段落，请在实际使用中更换文字。此处为模拟文字段落，请在实际使用中更换文字。此处为模拟文字段落，请在实际使用中更换文字。</a:t>
            </a:r>
            <a:endParaRPr lang="zh-CN" altLang="en-US" dirty="0"/>
          </a:p>
          <a:p>
            <a:pPr lvl="0"/>
            <a:r>
              <a:rPr lang="zh-CN" altLang="en-US" dirty="0"/>
              <a:t>此处为模拟文字段落，请在实际使用中更换文字。此处为模拟文字段落，请在实际使用中更换文字。</a:t>
            </a:r>
            <a:endParaRPr lang="zh-CN" altLang="en-US" dirty="0"/>
          </a:p>
        </p:txBody>
      </p:sp>
      <p:pic>
        <p:nvPicPr>
          <p:cNvPr id="2" name="图片 1" descr="插画_画板 1"/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5498465"/>
            <a:ext cx="12192000" cy="11772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4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830" y="4502150"/>
            <a:ext cx="11521440" cy="2355850"/>
          </a:xfrm>
          <a:prstGeom prst="rect">
            <a:avLst/>
          </a:prstGeom>
        </p:spPr>
      </p:pic>
      <p:sp>
        <p:nvSpPr>
          <p:cNvPr id="7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557715" y="2117992"/>
            <a:ext cx="4953007" cy="878595"/>
          </a:xfrm>
        </p:spPr>
        <p:txBody>
          <a:bodyPr>
            <a:noAutofit/>
          </a:bodyPr>
          <a:lstStyle>
            <a:lvl1pPr marL="0" indent="0">
              <a:buNone/>
              <a:defRPr sz="7000" b="1">
                <a:solidFill>
                  <a:srgbClr val="00574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THANKS!</a:t>
            </a:r>
            <a:endParaRPr lang="zh-CN" altLang="en-US" dirty="0"/>
          </a:p>
        </p:txBody>
      </p:sp>
      <p:sp>
        <p:nvSpPr>
          <p:cNvPr id="12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31273" y="570584"/>
            <a:ext cx="2187632" cy="308529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87878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  <a:endParaRPr lang="zh-CN" altLang="en-US" dirty="0"/>
          </a:p>
        </p:txBody>
      </p:sp>
      <p:pic>
        <p:nvPicPr>
          <p:cNvPr id="5" name="图片 4" descr="未标题-4-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6590" y="3160395"/>
            <a:ext cx="4088130" cy="882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4-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9060" y="-52070"/>
            <a:ext cx="12389485" cy="6962140"/>
          </a:xfrm>
          <a:prstGeom prst="rect">
            <a:avLst/>
          </a:prstGeom>
        </p:spPr>
      </p:pic>
      <p:sp>
        <p:nvSpPr>
          <p:cNvPr id="7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557715" y="2117992"/>
            <a:ext cx="4953007" cy="878595"/>
          </a:xfrm>
        </p:spPr>
        <p:txBody>
          <a:bodyPr>
            <a:noAutofit/>
          </a:bodyPr>
          <a:lstStyle>
            <a:lvl1pPr marL="0" indent="0">
              <a:buNone/>
              <a:defRPr sz="7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THANKS!</a:t>
            </a:r>
            <a:endParaRPr lang="zh-CN" altLang="en-US" dirty="0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31273" y="570584"/>
            <a:ext cx="2187632" cy="308529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网址或其他信息位置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CC935-6F5E-4028-9633-399AFADFAE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9E26F-9C0F-4D6E-84B1-C9DCC899A0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CF135-FC0C-49BA-A035-6C77D03181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F6CF6-FCBD-49FC-96E5-C6C77BCF24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05471" y="1471678"/>
            <a:ext cx="8990965" cy="777875"/>
          </a:xfrm>
        </p:spPr>
        <p:txBody>
          <a:bodyPr/>
          <a:lstStyle/>
          <a:p>
            <a:r>
              <a:rPr lang="en-US" altLang="zh-CN" sz="60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OSuperBeauty</a:t>
            </a:r>
            <a:endParaRPr lang="zh-CN" altLang="en-US" sz="6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20437" y="2498198"/>
            <a:ext cx="4588510" cy="1547591"/>
          </a:xfrm>
        </p:spPr>
        <p:txBody>
          <a:bodyPr>
            <a:noAutofit/>
          </a:bodyPr>
          <a:lstStyle/>
          <a:p>
            <a:r>
              <a:rPr lang="zh-CN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队伍名称：超级美少女队</a:t>
            </a:r>
            <a:endParaRPr lang="zh-CN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r>
              <a:rPr lang="zh-CN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学校名称：中国人民解放军国防科大学</a:t>
            </a:r>
            <a:endParaRPr lang="zh-CN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r>
              <a:rPr lang="zh-CN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队伍成员：陈浩男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</a:t>
            </a:r>
            <a:r>
              <a:rPr lang="zh-CN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张朔瑜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</a:t>
            </a:r>
            <a:r>
              <a:rPr lang="zh-CN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张佳安琪</a:t>
            </a:r>
            <a:endParaRPr lang="zh-CN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r>
              <a:rPr lang="zh-CN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指导教师：文艳军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sym typeface="+mn-ea"/>
            </a:endParaRPr>
          </a:p>
          <a:p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765" y="227486"/>
            <a:ext cx="1458542" cy="11624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0" y="1503380"/>
            <a:ext cx="25535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目</a:t>
            </a: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    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2340056" y="581749"/>
            <a:ext cx="881240" cy="568274"/>
          </a:xfrm>
          <a:prstGeom prst="roundRect">
            <a:avLst>
              <a:gd name="adj" fmla="val 50000"/>
            </a:avLst>
          </a:prstGeom>
          <a:solidFill>
            <a:srgbClr val="04487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23"/>
          <p:cNvSpPr/>
          <p:nvPr/>
        </p:nvSpPr>
        <p:spPr>
          <a:xfrm>
            <a:off x="2340053" y="1568859"/>
            <a:ext cx="881239" cy="568274"/>
          </a:xfrm>
          <a:prstGeom prst="roundRect">
            <a:avLst>
              <a:gd name="adj" fmla="val 50000"/>
            </a:avLst>
          </a:prstGeom>
          <a:solidFill>
            <a:srgbClr val="04487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占位符 3"/>
          <p:cNvSpPr>
            <a:spLocks noGrp="1"/>
          </p:cNvSpPr>
          <p:nvPr/>
        </p:nvSpPr>
        <p:spPr>
          <a:xfrm>
            <a:off x="3561394" y="1600153"/>
            <a:ext cx="5036467" cy="287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内存管理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0" name="矩形: 圆角 23"/>
          <p:cNvSpPr/>
          <p:nvPr/>
        </p:nvSpPr>
        <p:spPr>
          <a:xfrm>
            <a:off x="2340055" y="2565209"/>
            <a:ext cx="881239" cy="568274"/>
          </a:xfrm>
          <a:prstGeom prst="roundRect">
            <a:avLst>
              <a:gd name="adj" fmla="val 50000"/>
            </a:avLst>
          </a:prstGeom>
          <a:solidFill>
            <a:srgbClr val="04487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占位符 3"/>
          <p:cNvSpPr>
            <a:spLocks noGrp="1"/>
          </p:cNvSpPr>
          <p:nvPr/>
        </p:nvSpPr>
        <p:spPr>
          <a:xfrm>
            <a:off x="3561394" y="2625594"/>
            <a:ext cx="3429265" cy="701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进程与线程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: 圆角 23"/>
          <p:cNvSpPr/>
          <p:nvPr/>
        </p:nvSpPr>
        <p:spPr>
          <a:xfrm>
            <a:off x="2340054" y="3552319"/>
            <a:ext cx="881239" cy="568274"/>
          </a:xfrm>
          <a:prstGeom prst="roundRect">
            <a:avLst>
              <a:gd name="adj" fmla="val 50000"/>
            </a:avLst>
          </a:prstGeom>
          <a:solidFill>
            <a:srgbClr val="04487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/>
        </p:nvSpPr>
        <p:spPr>
          <a:xfrm>
            <a:off x="3561394" y="3603816"/>
            <a:ext cx="3429265" cy="701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文件系统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6550039" y="578230"/>
            <a:ext cx="881240" cy="568274"/>
          </a:xfrm>
          <a:prstGeom prst="roundRect">
            <a:avLst>
              <a:gd name="adj" fmla="val 50000"/>
            </a:avLst>
          </a:prstGeom>
          <a:solidFill>
            <a:srgbClr val="04487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565476" y="1561472"/>
            <a:ext cx="881240" cy="568274"/>
          </a:xfrm>
          <a:prstGeom prst="roundRect">
            <a:avLst>
              <a:gd name="adj" fmla="val 50000"/>
            </a:avLst>
          </a:prstGeom>
          <a:solidFill>
            <a:srgbClr val="04487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6550039" y="2586913"/>
            <a:ext cx="881240" cy="568274"/>
          </a:xfrm>
          <a:prstGeom prst="roundRect">
            <a:avLst>
              <a:gd name="adj" fmla="val 50000"/>
            </a:avLst>
          </a:prstGeom>
          <a:solidFill>
            <a:srgbClr val="04487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6565476" y="3594380"/>
            <a:ext cx="881240" cy="568274"/>
          </a:xfrm>
          <a:prstGeom prst="roundRect">
            <a:avLst>
              <a:gd name="adj" fmla="val 50000"/>
            </a:avLst>
          </a:prstGeom>
          <a:solidFill>
            <a:srgbClr val="04487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占位符 3"/>
          <p:cNvSpPr>
            <a:spLocks noGrp="1"/>
          </p:cNvSpPr>
          <p:nvPr/>
        </p:nvSpPr>
        <p:spPr>
          <a:xfrm>
            <a:off x="3561394" y="581749"/>
            <a:ext cx="4271296" cy="568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项目总览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8" name="文本占位符 3"/>
          <p:cNvSpPr>
            <a:spLocks noGrp="1"/>
          </p:cNvSpPr>
          <p:nvPr/>
        </p:nvSpPr>
        <p:spPr>
          <a:xfrm>
            <a:off x="7920704" y="578230"/>
            <a:ext cx="4271296" cy="568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系统调用与程序加载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0" name="文本占位符 3"/>
          <p:cNvSpPr>
            <a:spLocks noGrp="1"/>
          </p:cNvSpPr>
          <p:nvPr/>
        </p:nvSpPr>
        <p:spPr>
          <a:xfrm>
            <a:off x="7920704" y="1568859"/>
            <a:ext cx="4271296" cy="568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测试与评测体系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" name="文本占位符 3"/>
          <p:cNvSpPr>
            <a:spLocks noGrp="1"/>
          </p:cNvSpPr>
          <p:nvPr/>
        </p:nvSpPr>
        <p:spPr>
          <a:xfrm>
            <a:off x="7920704" y="2625594"/>
            <a:ext cx="4271296" cy="568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创新点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6" name="文本占位符 3"/>
          <p:cNvSpPr>
            <a:spLocks noGrp="1"/>
          </p:cNvSpPr>
          <p:nvPr/>
        </p:nvSpPr>
        <p:spPr>
          <a:xfrm>
            <a:off x="7920704" y="3627038"/>
            <a:ext cx="4271296" cy="568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801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成果总结</a:t>
            </a:r>
            <a:endParaRPr lang="zh-CN" altLang="en-US" sz="28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76655" y="295910"/>
            <a:ext cx="242062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01 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项目总览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</p:txBody>
      </p:sp>
      <p:sp>
        <p:nvSpPr>
          <p:cNvPr id="48" name="TextBox 11"/>
          <p:cNvSpPr txBox="1"/>
          <p:nvPr>
            <p:custDataLst>
              <p:tags r:id="rId1"/>
            </p:custDataLst>
          </p:nvPr>
        </p:nvSpPr>
        <p:spPr>
          <a:xfrm flipH="1">
            <a:off x="7555719" y="2349784"/>
            <a:ext cx="354839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请您单击此处添加合适文字加以说明，可以根据自己的需要适当地调整文字的大小或者颜色等属性。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Shape 312"/>
          <p:cNvSpPr/>
          <p:nvPr>
            <p:custDataLst>
              <p:tags r:id="rId2"/>
            </p:custDataLst>
          </p:nvPr>
        </p:nvSpPr>
        <p:spPr>
          <a:xfrm>
            <a:off x="1907824" y="2373667"/>
            <a:ext cx="348228" cy="243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1565" y="953570"/>
            <a:ext cx="1136996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5744"/>
                </a:solidFill>
                <a:latin typeface="+mj-ea"/>
                <a:ea typeface="+mj-ea"/>
                <a:cs typeface="Times New Roman" panose="02020603050405020304" pitchFamily="18" charset="0"/>
              </a:rPr>
              <a:t>概述：</a:t>
            </a:r>
            <a:r>
              <a:rPr lang="en-US" altLang="zh-CN" sz="20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OSuperBeauty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sz="20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SpringOS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2025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优秀作品，静春山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中山大学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陈思谋）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基线基础上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000" dirty="0"/>
              <a:t>延续其</a:t>
            </a:r>
            <a:r>
              <a:rPr lang="zh-CN" altLang="en-US" sz="2000" dirty="0"/>
              <a:t>“</a:t>
            </a:r>
            <a:r>
              <a:rPr lang="zh-CN" altLang="zh-CN" sz="2000" dirty="0"/>
              <a:t>模块化分层架构</a:t>
            </a:r>
            <a:r>
              <a:rPr lang="zh-CN" altLang="en-US" sz="2000" dirty="0"/>
              <a:t>”</a:t>
            </a:r>
            <a:r>
              <a:rPr lang="zh-CN" altLang="zh-CN" sz="2000" dirty="0"/>
              <a:t> 的设计理念</a:t>
            </a:r>
            <a:r>
              <a:rPr lang="zh-CN" altLang="en-US" sz="2000" dirty="0"/>
              <a:t>，</a:t>
            </a:r>
            <a:r>
              <a:rPr lang="zh-CN" altLang="zh-CN" sz="2000" dirty="0"/>
              <a:t>进一步向实用评测级别的完整操作系统演进。</a:t>
            </a:r>
            <a:br>
              <a:rPr lang="zh-CN" altLang="zh-CN" dirty="0"/>
            </a:br>
            <a:endParaRPr lang="zh-CN" altLang="zh-CN" dirty="0"/>
          </a:p>
          <a:p>
            <a:pPr>
              <a:defRPr sz="1500">
                <a:solidFill>
                  <a:srgbClr val="AAAAAA"/>
                </a:solidFill>
              </a:defRPr>
            </a:pP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21"/>
          </p:nvPr>
        </p:nvSpPr>
        <p:spPr>
          <a:xfrm>
            <a:off x="10931237" y="6658281"/>
            <a:ext cx="1105592" cy="199719"/>
          </a:xfrm>
        </p:spPr>
        <p:txBody>
          <a:bodyPr>
            <a:normAutofit fontScale="97500" lnSpcReduction="10000"/>
          </a:bodyPr>
          <a:lstStyle/>
          <a:p>
            <a:endParaRPr lang="zh-CN" altLang="en-US" dirty="0"/>
          </a:p>
        </p:txBody>
      </p:sp>
      <p:sp>
        <p:nvSpPr>
          <p:cNvPr id="8" name="矩形: 圆角 8"/>
          <p:cNvSpPr/>
          <p:nvPr/>
        </p:nvSpPr>
        <p:spPr>
          <a:xfrm>
            <a:off x="1907824" y="2082397"/>
            <a:ext cx="8376352" cy="3813096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0" name="矩形: 圆角 25"/>
          <p:cNvSpPr/>
          <p:nvPr/>
        </p:nvSpPr>
        <p:spPr>
          <a:xfrm>
            <a:off x="4901888" y="1814427"/>
            <a:ext cx="1953895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70949" y="18144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技术规格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29034" y="2443167"/>
            <a:ext cx="7355025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内核框架：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xv6-riscv→SpringOS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模块化重构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双指令集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四平台：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 QEMU/LA QEMU/VF2/2K1000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系统调用：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~90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个，对标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 5.10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文件系统：三层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VFS+lwext4 EXT4+procfs+devfs+pipefs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库兼容：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glibc+musl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双运行时库支持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进程模型：六状态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+clone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线程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+32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种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POSIX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内存管理：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Sv39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分页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+Buddy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分配器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mmap+VMA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动态链接：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PT_INTERP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解析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+ld.so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加载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auxv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传递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网络：参考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network-for-xv6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TCP/UDP/DNS/socket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框架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8"/>
          <p:cNvSpPr/>
          <p:nvPr/>
        </p:nvSpPr>
        <p:spPr>
          <a:xfrm>
            <a:off x="5578976" y="1221808"/>
            <a:ext cx="6224939" cy="4661883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76655" y="295910"/>
            <a:ext cx="242062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02 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内存管理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</p:txBody>
      </p:sp>
      <p:sp>
        <p:nvSpPr>
          <p:cNvPr id="48" name="TextBox 11"/>
          <p:cNvSpPr txBox="1"/>
          <p:nvPr>
            <p:custDataLst>
              <p:tags r:id="rId1"/>
            </p:custDataLst>
          </p:nvPr>
        </p:nvSpPr>
        <p:spPr>
          <a:xfrm flipH="1">
            <a:off x="7555719" y="2349784"/>
            <a:ext cx="354839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请您单击此处添加合适文字加以说明，可以根据自己的需要适当地调整文字的大小或者颜色等属性。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Shape 312"/>
          <p:cNvSpPr/>
          <p:nvPr>
            <p:custDataLst>
              <p:tags r:id="rId2"/>
            </p:custDataLst>
          </p:nvPr>
        </p:nvSpPr>
        <p:spPr>
          <a:xfrm>
            <a:off x="1907824" y="2373667"/>
            <a:ext cx="348228" cy="243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矩形: 圆角 8"/>
          <p:cNvSpPr/>
          <p:nvPr/>
        </p:nvSpPr>
        <p:spPr>
          <a:xfrm>
            <a:off x="422655" y="1242323"/>
            <a:ext cx="4733514" cy="4661882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2075" y="1949446"/>
            <a:ext cx="4485737" cy="3175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基于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Buddy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算法的物理内存分配器，支持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4KB~512MB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多粒度分配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写时复制（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Copy-on-Write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）：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fork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后父子进程共享页面，写入时才拷贝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懒分配（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Lazy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allocation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）：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mmap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时不立即分配物理页，按需触发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VMA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虚拟内存区域管理：记录每个映射的权限、类型和关联文件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双架构页表支持：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RISC-V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Sv39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三级页表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 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LoongArch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LA48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四级页表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兼容接口：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kalloc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kfree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kmalloc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kcalloc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，内核代码无需修改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: 圆角 25"/>
          <p:cNvSpPr/>
          <p:nvPr/>
        </p:nvSpPr>
        <p:spPr>
          <a:xfrm>
            <a:off x="7521894" y="931036"/>
            <a:ext cx="2339102" cy="538153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5719" y="96260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本队解决的问题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45494" y="1504758"/>
            <a:ext cx="6224940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问题一：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Initcode12KB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容量溢出导致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LoongArch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启动崩溃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根因：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uvmfirst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函数硬编码只分配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个页面（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12KB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），新的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initcode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二进制大小为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13040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字节，超出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1KB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在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fork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时被截断丢失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影响：所有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LoongArch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basic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测试子进程全部崩溃，此前未有人发现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修复：将固定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页改为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PGROUNDUP(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initcode_size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动态计算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问题二：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Buddy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分配器检测到二次释放触发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panic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根因：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ext4 extent tree split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失败后的错误处理路径对已释放节点再次释放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修复：将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buddy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double-free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响应从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panic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降级为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warning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同时在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ext4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错误处理路径中确保释放后将指针置为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NULL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问题三：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ext4 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块缓存 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LRU 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树 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use-after-free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根因：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ext4_bcache_inc_ref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增加引用计数但未从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LRU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树摘除节点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特性：仅在评测环境（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1G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内存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网络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rtc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）触发，本地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256M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环境不触发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诊断方法：通过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sepc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stval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反查代码→识别毒化模式→追踪引用计数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状态：根因已定位，为非确定性并发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bug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的调试积累了完整方法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</a:defRPr>
            </a:pP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2" name="Shape 312"/>
          <p:cNvSpPr/>
          <p:nvPr>
            <p:custDataLst>
              <p:tags r:id="rId3"/>
            </p:custDataLst>
          </p:nvPr>
        </p:nvSpPr>
        <p:spPr>
          <a:xfrm>
            <a:off x="2164999" y="1444662"/>
            <a:ext cx="348228" cy="243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矩形: 圆角 25"/>
          <p:cNvSpPr/>
          <p:nvPr/>
        </p:nvSpPr>
        <p:spPr>
          <a:xfrm>
            <a:off x="1369060" y="1013460"/>
            <a:ext cx="2842260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78840" y="1044552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SpringOS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已有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能力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8"/>
          <p:cNvSpPr/>
          <p:nvPr/>
        </p:nvSpPr>
        <p:spPr>
          <a:xfrm>
            <a:off x="5578976" y="1221808"/>
            <a:ext cx="6224939" cy="4359483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76655" y="295910"/>
            <a:ext cx="3271058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03 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进程与线程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</p:txBody>
      </p:sp>
      <p:sp>
        <p:nvSpPr>
          <p:cNvPr id="48" name="TextBox 11"/>
          <p:cNvSpPr txBox="1"/>
          <p:nvPr>
            <p:custDataLst>
              <p:tags r:id="rId1"/>
            </p:custDataLst>
          </p:nvPr>
        </p:nvSpPr>
        <p:spPr>
          <a:xfrm flipH="1">
            <a:off x="7555719" y="2349784"/>
            <a:ext cx="354839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spcAft>
                <a:spcPct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请您单击此处添加合适文字加以说明，可以根据自己的需要适当地调整文字的大小或者颜色等属性。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Shape 312"/>
          <p:cNvSpPr/>
          <p:nvPr>
            <p:custDataLst>
              <p:tags r:id="rId2"/>
            </p:custDataLst>
          </p:nvPr>
        </p:nvSpPr>
        <p:spPr>
          <a:xfrm>
            <a:off x="1907824" y="2373667"/>
            <a:ext cx="348228" cy="243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矩形: 圆角 8"/>
          <p:cNvSpPr/>
          <p:nvPr/>
        </p:nvSpPr>
        <p:spPr>
          <a:xfrm>
            <a:off x="473579" y="1222879"/>
            <a:ext cx="4733514" cy="4338968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2075" y="1853352"/>
            <a:ext cx="4485737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六状态进程模型：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NEW→READY→RUNNING→SLEEPING→ZOMBIE→UNUSED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fork()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完整进程复制，结合写时复制优化性能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clone()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系统调用支持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CLONE_VM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，可创建共享地址空间的线程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32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种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POSIX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信号：递送、屏蔽、处理函数注册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futex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快速用户态互斥：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FUTEX_WAIT/WAKE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支撑线程同步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轮转调度器：抢占式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 SMP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多核支持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/proc/self/exe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虚拟路径已有基础实现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矩形: 圆角 25"/>
          <p:cNvSpPr/>
          <p:nvPr/>
        </p:nvSpPr>
        <p:spPr>
          <a:xfrm>
            <a:off x="7641337" y="916700"/>
            <a:ext cx="2233908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88740" y="92450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本队解决的问题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12234" y="1504758"/>
            <a:ext cx="6158421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问题一：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clone() 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缺少关键线程标志位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SpringOS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已支持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CLONE_VM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，但缺失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CLONE_SIGHAND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（信号处理表共享）、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CLONE_THREAD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（线程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PID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语义）、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CLONE_SETTLS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（线程局部存储指针）、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CLONE_CHILD_CLEARTID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（线程退出清理）。导致 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pthread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测试无法正常运行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修复：逐个实现缺失标志位的语义，建立完整的线程创建路径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问题二：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busybox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argv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全局变量被踩踏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bb_testcode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全局数组与 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basic_name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在数据段紧邻，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64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次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fork/exec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后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数据段被覆盖，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busybox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收到乱码 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argv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[0]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而无法识别自身命令名称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修复：将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bb_testcode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改为函数内局部变量（栈分配），每次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前刷新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问题三：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execve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对非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ELF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文件返回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EPERM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而非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ENOEXEC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xv6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所有失败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return -1→musl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解析为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EPERM→busybox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ash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不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fallback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修复：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exec.c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的失败标签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return -1→return -ENOEXEC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Shape 312"/>
          <p:cNvSpPr/>
          <p:nvPr>
            <p:custDataLst>
              <p:tags r:id="rId3"/>
            </p:custDataLst>
          </p:nvPr>
        </p:nvSpPr>
        <p:spPr>
          <a:xfrm>
            <a:off x="2210719" y="1392592"/>
            <a:ext cx="348228" cy="243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矩形: 圆角 25"/>
          <p:cNvSpPr/>
          <p:nvPr/>
        </p:nvSpPr>
        <p:spPr>
          <a:xfrm>
            <a:off x="1414780" y="961390"/>
            <a:ext cx="2842260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24560" y="992482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SpringOS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已有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能力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76655" y="295910"/>
            <a:ext cx="242062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04 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文件系统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</p:txBody>
      </p:sp>
      <p:sp>
        <p:nvSpPr>
          <p:cNvPr id="57" name="Shape 312"/>
          <p:cNvSpPr/>
          <p:nvPr>
            <p:custDataLst>
              <p:tags r:id="rId1"/>
            </p:custDataLst>
          </p:nvPr>
        </p:nvSpPr>
        <p:spPr>
          <a:xfrm>
            <a:off x="2396139" y="1560232"/>
            <a:ext cx="348228" cy="243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矩形: 圆角 8"/>
          <p:cNvSpPr/>
          <p:nvPr/>
        </p:nvSpPr>
        <p:spPr>
          <a:xfrm>
            <a:off x="657225" y="1403350"/>
            <a:ext cx="4727575" cy="4610100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0" name="矩形: 圆角 25"/>
          <p:cNvSpPr/>
          <p:nvPr/>
        </p:nvSpPr>
        <p:spPr>
          <a:xfrm>
            <a:off x="1600200" y="1129030"/>
            <a:ext cx="2842260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09980" y="1160122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SpringOS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已有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能力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7860" y="1694815"/>
            <a:ext cx="4618990" cy="4319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VFS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三层抽象：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POSIX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接口 →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VFS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核心层 → 具体文件系统（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EXT4/pipe/devfs）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EXT4（lwext4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库）：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extent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树索引、日志（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journal）、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目录哈希、块位图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VFS_block.c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桥接层：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EXT4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块操作映射到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VirtIO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块设备驱动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procfs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虚拟文件系统：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proc/self/exe、/proc/mounts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等进程信息节点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设备文件系统：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dev/null、/dev/zero、/dev/console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管道系统：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pipe2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创建、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ppoll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等待、原子读写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Shape 312"/>
          <p:cNvSpPr/>
          <p:nvPr>
            <p:custDataLst>
              <p:tags r:id="rId2"/>
            </p:custDataLst>
          </p:nvPr>
        </p:nvSpPr>
        <p:spPr>
          <a:xfrm>
            <a:off x="8255000" y="1560195"/>
            <a:ext cx="347980" cy="24320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矩形: 圆角 8"/>
          <p:cNvSpPr/>
          <p:nvPr/>
        </p:nvSpPr>
        <p:spPr>
          <a:xfrm>
            <a:off x="6200140" y="1403350"/>
            <a:ext cx="5360035" cy="4610100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9" name="矩形: 圆角 25"/>
          <p:cNvSpPr/>
          <p:nvPr/>
        </p:nvSpPr>
        <p:spPr>
          <a:xfrm>
            <a:off x="7459345" y="1129030"/>
            <a:ext cx="2842260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21525" y="1160122"/>
            <a:ext cx="2316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本队解决的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00140" y="1695450"/>
            <a:ext cx="5268595" cy="431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问题一：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ext4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块缓存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use-after-free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根因：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ext4_bcache_inc_ref()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增加引用计数时未将节点从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树中摘除，当引用计数从0变为1后节点仍在树中，后续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释放时留下悬挂指针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仅在评测环境（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QEMU 1G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内存+网络+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rtc）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触发，本地环境不触发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诊断流程：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崩溃地址 →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addr2line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定位 → 内存毒化模式 → 引用计数与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树交互路径分析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根因已定位，为非确定性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bug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建立了完整的诊断方法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fontAlgn="auto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问题二：多进程并发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导致控制台输出乱序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三层原因：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consolewrite()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无锁；(2)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uartputc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逐字符释放锁；(3)测试程序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将一行输出拆分为多次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write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系统调用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影响：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评测脚本无法匹配预期输出格式，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yield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测试得0分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修复：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实现行缓冲控制台，凑齐完整行后再一次性原子输出到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UART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76655" y="295910"/>
            <a:ext cx="522351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05 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系统调用与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程序加载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</p:txBody>
      </p:sp>
      <p:sp>
        <p:nvSpPr>
          <p:cNvPr id="57" name="Shape 312"/>
          <p:cNvSpPr/>
          <p:nvPr>
            <p:custDataLst>
              <p:tags r:id="rId1"/>
            </p:custDataLst>
          </p:nvPr>
        </p:nvSpPr>
        <p:spPr>
          <a:xfrm>
            <a:off x="2412649" y="1560232"/>
            <a:ext cx="348228" cy="243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矩形: 圆角 8"/>
          <p:cNvSpPr/>
          <p:nvPr/>
        </p:nvSpPr>
        <p:spPr>
          <a:xfrm>
            <a:off x="657225" y="1403350"/>
            <a:ext cx="4760595" cy="4610735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0" name="矩形: 圆角 25"/>
          <p:cNvSpPr/>
          <p:nvPr/>
        </p:nvSpPr>
        <p:spPr>
          <a:xfrm>
            <a:off x="1616710" y="1129030"/>
            <a:ext cx="2842260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26490" y="1160122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SpringOS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已有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能力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7860" y="1694815"/>
            <a:ext cx="4655820" cy="4319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系统调用体系约90个，对标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 5.10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接口规范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五大类别：进程管理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 +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文件系统 35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+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内存管理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5 +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 7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+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时间同步 20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PT_INTERP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动态链接器加载：解析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ELF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头 → 加载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ld.so →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传递辅助向量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execve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完整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ELF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可执行文件加载器，支持静态链接与动态链接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辅助向量传递：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AT_PHDR、AT_BASE、AT_ENTRY、AT_RANDOM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Shape 312"/>
          <p:cNvSpPr/>
          <p:nvPr>
            <p:custDataLst>
              <p:tags r:id="rId2"/>
            </p:custDataLst>
          </p:nvPr>
        </p:nvSpPr>
        <p:spPr>
          <a:xfrm>
            <a:off x="8376285" y="1560195"/>
            <a:ext cx="347980" cy="24320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矩形: 圆角 8"/>
          <p:cNvSpPr/>
          <p:nvPr/>
        </p:nvSpPr>
        <p:spPr>
          <a:xfrm>
            <a:off x="6315075" y="1403350"/>
            <a:ext cx="5245100" cy="4653280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9" name="矩形: 圆角 25"/>
          <p:cNvSpPr/>
          <p:nvPr/>
        </p:nvSpPr>
        <p:spPr>
          <a:xfrm>
            <a:off x="7580630" y="1129030"/>
            <a:ext cx="2842260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42810" y="1160122"/>
            <a:ext cx="2316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本队解决的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15075" y="1695450"/>
            <a:ext cx="5153025" cy="431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问题一：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约190处系统调用返回值语义错误（从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xv6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遗留至今）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xv6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约定所有失败均返回 -1，但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musl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 __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syscall_ret(-1)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将其解析为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EPERM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，所有错误场景如文件不存在、内存不足、参数无效等，均被报告为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权限不足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修复：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逐文件替换为语义正确的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errno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值（共15种）：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sysfile.c ~100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处：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ENOENT/-EBADF/-EINVAL/-EFAULT/-ESPIPE/-ENOTDIR/-EEXIST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sysproc.c ~80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处：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ENOMEM/-EACCES/-EINTR/-EMFILE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syssig.c ~10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处：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EFAULT/-EINVAL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此修复使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libc-test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errno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相关断言大幅通过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fontAlgn="auto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问题二：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动态链接器辅助向量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AT_PHDR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传递错误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AT_PHDR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传入的是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ELF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文件偏移量0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x40，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而非内存中的虚拟地址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glibc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依赖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AT_PHDR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定位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PT_TLS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段来初始化线程局部存储→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TLS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失败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修复：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记录首个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LOAD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段虚拟地址，同时增加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symlink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跟随和 /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符号链接支持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76655" y="295910"/>
            <a:ext cx="522351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06 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测试与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评测体系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</p:txBody>
      </p:sp>
      <p:sp>
        <p:nvSpPr>
          <p:cNvPr id="57" name="Shape 312"/>
          <p:cNvSpPr/>
          <p:nvPr>
            <p:custDataLst>
              <p:tags r:id="rId1"/>
            </p:custDataLst>
          </p:nvPr>
        </p:nvSpPr>
        <p:spPr>
          <a:xfrm>
            <a:off x="2479959" y="1560232"/>
            <a:ext cx="348228" cy="243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矩形: 圆角 8"/>
          <p:cNvSpPr/>
          <p:nvPr/>
        </p:nvSpPr>
        <p:spPr>
          <a:xfrm>
            <a:off x="657225" y="1403350"/>
            <a:ext cx="4798060" cy="4610735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0" name="矩形: 圆角 25"/>
          <p:cNvSpPr/>
          <p:nvPr/>
        </p:nvSpPr>
        <p:spPr>
          <a:xfrm>
            <a:off x="1684020" y="1129030"/>
            <a:ext cx="2842260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3800" y="1160122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SpringOS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已有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能力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7860" y="1694815"/>
            <a:ext cx="4667250" cy="4319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SpringOS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支持多套测试：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basic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基础功能、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busybox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命令行、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libc-test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标准库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lua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脚本解释器测试、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iozone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文件系统性能测试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Docker + QEMU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本地评测环境，一键运行全部测试套件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VisionFive2（RISC-V）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和龙芯 2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K1000（LoongArch）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真机验证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Shape 312"/>
          <p:cNvSpPr/>
          <p:nvPr>
            <p:custDataLst>
              <p:tags r:id="rId2"/>
            </p:custDataLst>
          </p:nvPr>
        </p:nvSpPr>
        <p:spPr>
          <a:xfrm>
            <a:off x="8376285" y="1560195"/>
            <a:ext cx="347980" cy="24320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63" y="54832"/>
                </a:moveTo>
                <a:lnTo>
                  <a:pt x="81863" y="54832"/>
                </a:lnTo>
                <a:cubicBezTo>
                  <a:pt x="118402" y="2009"/>
                  <a:pt x="118402" y="2009"/>
                  <a:pt x="118402" y="2009"/>
                </a:cubicBezTo>
                <a:cubicBezTo>
                  <a:pt x="119800" y="4019"/>
                  <a:pt x="119800" y="6028"/>
                  <a:pt x="119800" y="8038"/>
                </a:cubicBezTo>
                <a:cubicBezTo>
                  <a:pt x="119800" y="111387"/>
                  <a:pt x="119800" y="111387"/>
                  <a:pt x="119800" y="111387"/>
                </a:cubicBezTo>
                <a:cubicBezTo>
                  <a:pt x="119800" y="113397"/>
                  <a:pt x="119800" y="115693"/>
                  <a:pt x="118402" y="117703"/>
                </a:cubicBezTo>
                <a:lnTo>
                  <a:pt x="81863" y="54832"/>
                </a:lnTo>
                <a:close/>
                <a:moveTo>
                  <a:pt x="1397" y="2009"/>
                </a:moveTo>
                <a:lnTo>
                  <a:pt x="1397" y="2009"/>
                </a:lnTo>
                <a:cubicBezTo>
                  <a:pt x="2795" y="2009"/>
                  <a:pt x="4193" y="0"/>
                  <a:pt x="5590" y="0"/>
                </a:cubicBezTo>
                <a:cubicBezTo>
                  <a:pt x="114209" y="0"/>
                  <a:pt x="114209" y="0"/>
                  <a:pt x="114209" y="0"/>
                </a:cubicBezTo>
                <a:cubicBezTo>
                  <a:pt x="115607" y="0"/>
                  <a:pt x="117004" y="2009"/>
                  <a:pt x="118402" y="2009"/>
                </a:cubicBezTo>
                <a:cubicBezTo>
                  <a:pt x="59301" y="68899"/>
                  <a:pt x="59301" y="68899"/>
                  <a:pt x="59301" y="68899"/>
                </a:cubicBezTo>
                <a:lnTo>
                  <a:pt x="1397" y="2009"/>
                </a:lnTo>
                <a:close/>
                <a:moveTo>
                  <a:pt x="1397" y="117703"/>
                </a:moveTo>
                <a:lnTo>
                  <a:pt x="1397" y="117703"/>
                </a:lnTo>
                <a:cubicBezTo>
                  <a:pt x="0" y="115693"/>
                  <a:pt x="0" y="113397"/>
                  <a:pt x="0" y="111387"/>
                </a:cubicBezTo>
                <a:cubicBezTo>
                  <a:pt x="0" y="8038"/>
                  <a:pt x="0" y="8038"/>
                  <a:pt x="0" y="8038"/>
                </a:cubicBezTo>
                <a:cubicBezTo>
                  <a:pt x="0" y="6028"/>
                  <a:pt x="0" y="4019"/>
                  <a:pt x="1397" y="2009"/>
                </a:cubicBezTo>
                <a:cubicBezTo>
                  <a:pt x="38136" y="54832"/>
                  <a:pt x="38136" y="54832"/>
                  <a:pt x="38136" y="54832"/>
                </a:cubicBezTo>
                <a:lnTo>
                  <a:pt x="1397" y="117703"/>
                </a:lnTo>
                <a:close/>
                <a:moveTo>
                  <a:pt x="59301" y="85263"/>
                </a:moveTo>
                <a:lnTo>
                  <a:pt x="59301" y="85263"/>
                </a:lnTo>
                <a:cubicBezTo>
                  <a:pt x="74675" y="62870"/>
                  <a:pt x="74675" y="62870"/>
                  <a:pt x="74675" y="62870"/>
                </a:cubicBezTo>
                <a:cubicBezTo>
                  <a:pt x="118402" y="117703"/>
                  <a:pt x="118402" y="117703"/>
                  <a:pt x="118402" y="117703"/>
                </a:cubicBezTo>
                <a:cubicBezTo>
                  <a:pt x="117004" y="119712"/>
                  <a:pt x="115607" y="119712"/>
                  <a:pt x="114209" y="119712"/>
                </a:cubicBezTo>
                <a:cubicBezTo>
                  <a:pt x="5590" y="119712"/>
                  <a:pt x="5590" y="119712"/>
                  <a:pt x="5590" y="119712"/>
                </a:cubicBezTo>
                <a:cubicBezTo>
                  <a:pt x="4193" y="119712"/>
                  <a:pt x="2795" y="119712"/>
                  <a:pt x="1397" y="117703"/>
                </a:cubicBezTo>
                <a:cubicBezTo>
                  <a:pt x="43727" y="62870"/>
                  <a:pt x="43727" y="62870"/>
                  <a:pt x="43727" y="62870"/>
                </a:cubicBezTo>
                <a:lnTo>
                  <a:pt x="59301" y="85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defTabSz="457200"/>
            <a:endParaRPr sz="4800" kern="0" dirty="0">
              <a:solidFill>
                <a:srgbClr val="737572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矩形: 圆角 8"/>
          <p:cNvSpPr/>
          <p:nvPr/>
        </p:nvSpPr>
        <p:spPr>
          <a:xfrm>
            <a:off x="6281420" y="1403350"/>
            <a:ext cx="5278755" cy="4653280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0">
                  <a:srgbClr val="18854B"/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38100" dir="2700000" algn="tl" rotWithShape="0">
              <a:srgbClr val="18854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9" name="矩形: 圆角 25"/>
          <p:cNvSpPr/>
          <p:nvPr/>
        </p:nvSpPr>
        <p:spPr>
          <a:xfrm>
            <a:off x="7580630" y="1129030"/>
            <a:ext cx="2842260" cy="535940"/>
          </a:xfrm>
          <a:prstGeom prst="roundRect">
            <a:avLst>
              <a:gd name="adj" fmla="val 10145"/>
            </a:avLst>
          </a:prstGeom>
          <a:solidFill>
            <a:srgbClr val="005744"/>
          </a:solidFill>
          <a:ln w="9525">
            <a:noFill/>
          </a:ln>
          <a:effectLst>
            <a:outerShdw blurRad="368300" dist="63500" dir="2700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42810" y="1160122"/>
            <a:ext cx="2316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本队解决的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81420" y="1695450"/>
            <a:ext cx="5186680" cy="431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贡献一：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libc-test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PASS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诊断——9个测试声称通过但行为不正确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首次对96个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libc-test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测试逐测试分类分析，识别9个假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PASS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已修复7个：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stat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utime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daemon / lseek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rlimit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statvfs / sign_extend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fontAlgn="auto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贡献二：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musl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版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libc-test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首次实现82/82全部通过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SpringOS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未充分验证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musl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版本 →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runtest.exe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不工作（依赖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sigtimedwait）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采用直接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fork+exec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方案逐个运行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entry-static.exe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测试条目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pthread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 82/82 全部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PASS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fontAlgn="auto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贡献三：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LTP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测试套件首次探索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完整分类360个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syscall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测试，建立实现状态对照表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诊断动态链接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ABI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不兼容问题：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musl libc.so(soft-float) vs LTP binary(double-float)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spcAft>
                <a:spcPts val="500"/>
              </a:spcAft>
              <a:buFont typeface="Wingdings" panose="05000000000000000000" charset="0"/>
              <a:buNone/>
              <a:defRPr sz="1400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为后续全面通过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LTP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测试建立了清晰的路线图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fontAlgn="auto">
              <a:spcAft>
                <a:spcPts val="500"/>
              </a:spcAft>
              <a:buFont typeface="Wingdings" panose="05000000000000000000" charset="0"/>
              <a:buChar char="Ø"/>
              <a:defRPr sz="1400">
                <a:solidFill>
                  <a:srgbClr val="FFFFFF"/>
                </a:solidFill>
              </a:defRPr>
            </a:pP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76655" y="295910"/>
            <a:ext cx="522351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07 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创新点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</p:txBody>
      </p:sp>
      <p:sp>
        <p:nvSpPr>
          <p:cNvPr id="4" name="文本框 3" descr="7b0a202020202262756c6c6574223a20227b5c2263617465676f727949645c223a5c225c222c5c2274656d706c61746549645c223a32303233313637397d220a7d0a"/>
          <p:cNvSpPr txBox="1"/>
          <p:nvPr/>
        </p:nvSpPr>
        <p:spPr>
          <a:xfrm>
            <a:off x="749300" y="1324610"/>
            <a:ext cx="1038606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全链路假 </a:t>
            </a:r>
            <a:r>
              <a:rPr lang="en-US" altLang="zh-CN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 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诊断与修复体系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   → 对 96 个测试逐分类、逐根因分析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跨架构深层 </a:t>
            </a:r>
            <a:r>
              <a:rPr lang="en-US" altLang="zh-CN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Bug 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的发现与修复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600"/>
              <a:t>   → initcode </a:t>
            </a:r>
            <a:r>
              <a:rPr lang="zh-CN" altLang="en-US" sz="1600"/>
              <a:t>溢出影响 </a:t>
            </a:r>
            <a:r>
              <a:rPr lang="en-US" altLang="zh-CN" sz="1600"/>
              <a:t>RV+LA </a:t>
            </a:r>
            <a:r>
              <a:rPr lang="zh-CN" altLang="en-US" sz="1600"/>
              <a:t>两架构，增加第 4 页映射，双架构一同修复</a:t>
            </a:r>
            <a:endParaRPr lang="zh-CN" altLang="en-US" sz="160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LTP 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评测体系首次探索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fontAlgn="auto">
              <a:lnSpc>
                <a:spcPct val="150000"/>
              </a:lnSpc>
            </a:pPr>
            <a:r>
              <a:rPr lang="en-US" altLang="zh-CN"/>
              <a:t> </a:t>
            </a:r>
            <a:r>
              <a:rPr lang="en-US" altLang="zh-CN" sz="1600"/>
              <a:t>  → 360 syscall </a:t>
            </a:r>
            <a:r>
              <a:rPr lang="zh-CN" altLang="en-US" sz="1600"/>
              <a:t>完整分类 + </a:t>
            </a:r>
            <a:r>
              <a:rPr lang="en-US" altLang="zh-CN" sz="1600"/>
              <a:t>ABI </a:t>
            </a:r>
            <a:r>
              <a:rPr lang="zh-CN" altLang="en-US" sz="1600"/>
              <a:t>诊断</a:t>
            </a:r>
            <a:endParaRPr lang="zh-CN" altLang="en-US" sz="160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~190 处 </a:t>
            </a:r>
            <a:r>
              <a:rPr lang="en-US" altLang="zh-CN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errno 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语义系统修复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600">
                <a:sym typeface="+mn-ea"/>
              </a:rPr>
              <a:t>   →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olidFill>
                  <a:schemeClr val="tx1"/>
                </a:solidFill>
              </a:rPr>
              <a:t>约 190 处 </a:t>
            </a:r>
            <a:r>
              <a:rPr lang="en-US" altLang="zh-CN" sz="1600">
                <a:solidFill>
                  <a:schemeClr val="tx1"/>
                </a:solidFill>
              </a:rPr>
              <a:t>syscall </a:t>
            </a:r>
            <a:r>
              <a:rPr lang="zh-CN" altLang="en-US" sz="1600">
                <a:solidFill>
                  <a:schemeClr val="tx1"/>
                </a:solidFill>
              </a:rPr>
              <a:t>直接 </a:t>
            </a:r>
            <a:r>
              <a:rPr lang="en-US" altLang="zh-CN" sz="1600">
                <a:solidFill>
                  <a:schemeClr val="tx1"/>
                </a:solidFill>
              </a:rPr>
              <a:t>return -1</a:t>
            </a:r>
            <a:r>
              <a:rPr lang="zh-CN" altLang="en-US" sz="1600">
                <a:solidFill>
                  <a:schemeClr val="tx1"/>
                </a:solidFill>
              </a:rPr>
              <a:t>，全部修正为 -</a:t>
            </a:r>
            <a:r>
              <a:rPr lang="en-US" altLang="zh-CN" sz="1600">
                <a:solidFill>
                  <a:schemeClr val="tx1"/>
                </a:solidFill>
              </a:rPr>
              <a:t>ERRNO，</a:t>
            </a:r>
            <a:r>
              <a:rPr lang="zh-CN" altLang="en-US" sz="1600">
                <a:solidFill>
                  <a:schemeClr val="tx1"/>
                </a:solidFill>
              </a:rPr>
              <a:t>使错误码与 </a:t>
            </a:r>
            <a:r>
              <a:rPr lang="en-US" altLang="zh-CN" sz="1600">
                <a:solidFill>
                  <a:schemeClr val="tx1"/>
                </a:solidFill>
              </a:rPr>
              <a:t>POSIX </a:t>
            </a:r>
            <a:r>
              <a:rPr lang="zh-CN" altLang="en-US" sz="1600">
                <a:solidFill>
                  <a:schemeClr val="tx1"/>
                </a:solidFill>
              </a:rPr>
              <a:t>一致</a:t>
            </a:r>
            <a:endParaRPr lang="zh-CN" altLang="en-US" sz="1600">
              <a:solidFill>
                <a:schemeClr val="tx1"/>
              </a:solidFill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非确定性 </a:t>
            </a:r>
            <a:r>
              <a:rPr lang="en-US" altLang="zh-CN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bug 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调试方法的建立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 </a:t>
            </a:r>
            <a:r>
              <a:rPr lang="zh-CN" altLang="en-US" sz="1600">
                <a:sym typeface="+mn-ea"/>
              </a:rPr>
              <a:t>  →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/>
              <a:t>通过 </a:t>
            </a:r>
            <a:r>
              <a:rPr lang="en-US" altLang="zh-CN" sz="1600"/>
              <a:t>sepc/stval → addr2line → kfree</a:t>
            </a:r>
            <a:r>
              <a:rPr lang="zh-CN" altLang="en-US" sz="1600"/>
              <a:t>毒化模式识别</a:t>
            </a:r>
            <a:r>
              <a:rPr lang="en-US" altLang="zh-CN" sz="1600"/>
              <a:t> </a:t>
            </a:r>
            <a:r>
              <a:rPr lang="zh-CN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偏移量计算</a:t>
            </a:r>
            <a:r>
              <a:rPr lang="en-US" altLang="zh-CN" sz="1600"/>
              <a:t>，</a:t>
            </a:r>
            <a:r>
              <a:rPr lang="zh-CN" altLang="en-US" sz="1600"/>
              <a:t>将幽灵 </a:t>
            </a:r>
            <a:r>
              <a:rPr lang="en-US" altLang="zh-CN" sz="1600"/>
              <a:t>bug </a:t>
            </a:r>
            <a:r>
              <a:rPr lang="zh-CN" altLang="en-US" sz="1600"/>
              <a:t>精确归因至 </a:t>
            </a:r>
            <a:r>
              <a:rPr lang="en-US" altLang="zh-CN" sz="1600"/>
              <a:t>                   ext4_bcache_inc_ref </a:t>
            </a:r>
            <a:r>
              <a:rPr lang="zh-CN" altLang="en-US" sz="1600"/>
              <a:t>绕过 </a:t>
            </a:r>
            <a:r>
              <a:rPr lang="en-US" altLang="zh-CN" sz="1600"/>
              <a:t>LRU</a:t>
            </a:r>
            <a:r>
              <a:rPr lang="zh-CN" altLang="en-US" sz="1600"/>
              <a:t>红黑树摘除的单行根因</a:t>
            </a:r>
            <a:endParaRPr lang="zh-CN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76655" y="295910"/>
            <a:ext cx="522351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08 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成果总结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1310" y="1459865"/>
            <a:ext cx="5310505" cy="3061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rPr lang="zh-CN" sz="2000">
                <a:solidFill>
                  <a:schemeClr val="tx1"/>
                </a:solidFill>
                <a:sym typeface="+mn-ea"/>
              </a:rPr>
              <a:t>由于时间和学业问题，本团队实现以下功能：</a:t>
            </a:r>
            <a:endParaRPr sz="2000">
              <a:solidFill>
                <a:schemeClr val="tx1"/>
              </a:solidFill>
              <a:sym typeface="+mn-ea"/>
            </a:endParaRPr>
          </a:p>
          <a:p>
            <a:pPr marL="285750" indent="-285750" fontAlgn="auto">
              <a:lnSpc>
                <a:spcPct val="150000"/>
              </a:lnSpc>
              <a:spcAft>
                <a:spcPts val="200"/>
              </a:spcAft>
              <a:buFont typeface="Wingdings" panose="05000000000000000000" charset="0"/>
              <a:buChar char="Ø"/>
              <a:defRPr sz="1300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  <a:sym typeface="+mn-ea"/>
              </a:rPr>
              <a:t>libc-test 假 PASS：9 → 2（已修复 7 个）</a:t>
            </a:r>
            <a:endParaRPr sz="1800">
              <a:solidFill>
                <a:schemeClr val="tx1"/>
              </a:solidFill>
              <a:sym typeface="+mn-ea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  <a:sym typeface="+mn-ea"/>
              </a:rPr>
              <a:t>约 190 处系统调用 errno 语义精细化修复</a:t>
            </a:r>
            <a:endParaRPr sz="1800">
              <a:solidFill>
                <a:schemeClr val="tx1"/>
              </a:solidFill>
              <a:sym typeface="+mn-ea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  <a:sym typeface="+mn-ea"/>
              </a:rPr>
              <a:t>Initcode 12KB 溢出（跨架构深层 bug，此前未被发现）</a:t>
            </a:r>
            <a:endParaRPr sz="1800">
              <a:solidFill>
                <a:schemeClr val="tx1"/>
              </a:solidFill>
              <a:sym typeface="+mn-ea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  <a:sym typeface="+mn-ea"/>
              </a:rPr>
              <a:t>ext4 块缓存 LRU 树 use-after-free 幽灵 bug 定位</a:t>
            </a:r>
            <a:endParaRPr sz="1800">
              <a:solidFill>
                <a:schemeClr val="tx1"/>
              </a:solidFill>
              <a:sym typeface="+mn-ea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  <a:sym typeface="+mn-ea"/>
              </a:rPr>
              <a:t>clone 标志位扩展 + 动态链接 AT_PHDR 修正</a:t>
            </a:r>
            <a:endParaRPr sz="1800">
              <a:solidFill>
                <a:schemeClr val="tx1"/>
              </a:solidFill>
              <a:sym typeface="+mn-ea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>
                <a:solidFill>
                  <a:srgbClr val="FFFFFF"/>
                </a:solidFill>
              </a:defRPr>
            </a:pPr>
            <a:r>
              <a:rPr sz="1800">
                <a:solidFill>
                  <a:schemeClr val="tx1"/>
                </a:solidFill>
                <a:sym typeface="+mn-ea"/>
              </a:rPr>
              <a:t>musl libc-test 82/82 首次全通过 · LTP 360 测试首次分类</a:t>
            </a:r>
            <a:endParaRPr lang="zh-CN" altLang="en-US" sz="18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780" y="1383665"/>
            <a:ext cx="6358255" cy="35902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76655" y="295910"/>
            <a:ext cx="5366188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附录</a:t>
            </a:r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 参考来源与合规声明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  <a:p>
            <a:pPr algn="l"/>
            <a:endParaRPr lang="zh-CN" altLang="en-US" sz="2800" b="1" dirty="0">
              <a:solidFill>
                <a:srgbClr val="00574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301"/>
          <p:cNvSpPr txBox="1"/>
          <p:nvPr/>
        </p:nvSpPr>
        <p:spPr>
          <a:xfrm>
            <a:off x="452964" y="1048152"/>
            <a:ext cx="5734772" cy="4802232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5543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代码与架构参考：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65543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SpringOS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决赛版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基线项目（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2025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优秀作品）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xv6-riscv (MIT)——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内核框架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xv6-loongarch-exp——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龙芯架构移植参考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xv6-vf2 (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michaelengel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)——VF2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启动与中断参考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cabbageOS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(2024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优秀作品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——VFS+EXT4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架构参考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lwext4 (GPL-2.0)——EXT4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文件系统库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lwIP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网络协议栈（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SpringOS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已集成）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network-for-xv6-riscv——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网络模块参考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测试套件（用于验证）：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basic/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busybox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libc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-test/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lua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iozone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/LTP</a:t>
            </a:r>
            <a:endParaRPr lang="en-US" altLang="zh-CN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工具与规范：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RISC-V/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LoongArch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GCC·QEMU·Docker</a:t>
            </a:r>
            <a:endParaRPr lang="en-US" altLang="zh-CN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RISC-V 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ISA·LoongArch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ABI·SBI·Linux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Man Pages</a:t>
            </a:r>
            <a:endParaRPr lang="en-US" altLang="zh-CN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许可证：因集成 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lwext4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库，项目整体采用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GPL-2.0</a:t>
            </a:r>
            <a:endParaRPr lang="en-US" altLang="zh-CN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endParaRPr lang="en-US" altLang="zh-CN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301"/>
          <p:cNvSpPr txBox="1"/>
          <p:nvPr/>
        </p:nvSpPr>
        <p:spPr>
          <a:xfrm>
            <a:off x="6451108" y="1669589"/>
            <a:ext cx="5438849" cy="4092019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2400" b="1" dirty="0">
                <a:solidFill>
                  <a:srgbClr val="065543"/>
                </a:solidFill>
                <a:latin typeface="+mj-ea"/>
                <a:ea typeface="+mj-ea"/>
              </a:rPr>
              <a:t>本队完全原创的工作：</a:t>
            </a:r>
            <a:endParaRPr lang="en-US" altLang="zh-CN" sz="2400" b="1" dirty="0">
              <a:solidFill>
                <a:srgbClr val="065543"/>
              </a:solidFill>
              <a:latin typeface="+mj-ea"/>
              <a:ea typeface="+mj-ea"/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假 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PASS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诊断修复体系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—9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个测试逐根因分析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Initcode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12KB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溢出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跨架构 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bug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的发现与修复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ext4 LRU UAF—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非确定性 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bug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的诊断方法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约 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190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处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errno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系统调用返回值语义修正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LTP 360 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syscall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首次完整分类与状态映射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clone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标志位扩展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—CLONE_SIGHAND/THREAD/SETTLS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等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动态链接增强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—AT_PHDR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修正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en-US" altLang="zh-CN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symlink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跟随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行缓冲控制台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多进程输出竞争消除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Ø"/>
              <a:defRPr sz="1300">
                <a:solidFill>
                  <a:srgbClr val="FFFFFF"/>
                </a:solidFill>
              </a:defRPr>
            </a:pP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38 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篇技术文档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完整开发过程记录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 rot="18900000">
            <a:off x="425185" y="187700"/>
            <a:ext cx="530447" cy="705898"/>
            <a:chOff x="1417969" y="-178881"/>
            <a:chExt cx="985343" cy="1311255"/>
          </a:xfrm>
        </p:grpSpPr>
        <p:sp>
          <p:nvSpPr>
            <p:cNvPr id="20" name="矩形 19"/>
            <p:cNvSpPr/>
            <p:nvPr/>
          </p:nvSpPr>
          <p:spPr>
            <a:xfrm rot="2700000">
              <a:off x="1715630" y="444692"/>
              <a:ext cx="774968" cy="600395"/>
            </a:xfrm>
            <a:prstGeom prst="rect">
              <a:avLst/>
            </a:prstGeom>
            <a:solidFill>
              <a:srgbClr val="ECD37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 rot="2700000">
              <a:off x="1302962" y="-63874"/>
              <a:ext cx="1004982" cy="774969"/>
            </a:xfrm>
            <a:prstGeom prst="rect">
              <a:avLst/>
            </a:prstGeom>
            <a:solidFill>
              <a:srgbClr val="005744">
                <a:alpha val="9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198171" y="313799"/>
            <a:ext cx="9951678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附录</a:t>
            </a:r>
            <a:r>
              <a:rPr lang="en-US" altLang="zh-CN" sz="2800" b="1" dirty="0">
                <a:solidFill>
                  <a:srgbClr val="005744"/>
                </a:solidFill>
                <a:latin typeface="+mj-ea"/>
                <a:ea typeface="+mj-ea"/>
              </a:rPr>
              <a:t>B AI</a:t>
            </a:r>
            <a:r>
              <a:rPr lang="zh-CN" altLang="en-US" sz="2800" b="1" dirty="0">
                <a:solidFill>
                  <a:srgbClr val="005744"/>
                </a:solidFill>
                <a:latin typeface="+mj-ea"/>
                <a:ea typeface="+mj-ea"/>
              </a:rPr>
              <a:t>工具使用声明</a:t>
            </a:r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  <a:p>
            <a:pPr algn="l"/>
            <a:endParaRPr lang="zh-CN" altLang="en-US" sz="2800" b="1" dirty="0">
              <a:solidFill>
                <a:srgbClr val="005744"/>
              </a:solidFill>
              <a:latin typeface="+mj-ea"/>
              <a:ea typeface="+mj-ea"/>
            </a:endParaRPr>
          </a:p>
        </p:txBody>
      </p:sp>
      <p:sp>
        <p:nvSpPr>
          <p:cNvPr id="37" name="Shape 301"/>
          <p:cNvSpPr txBox="1"/>
          <p:nvPr/>
        </p:nvSpPr>
        <p:spPr>
          <a:xfrm>
            <a:off x="657151" y="942369"/>
            <a:ext cx="9951678" cy="1138399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>
              <a:lnSpc>
                <a:spcPct val="120000"/>
              </a:lnSpc>
              <a:spcAft>
                <a:spcPct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5543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总结：</a:t>
            </a:r>
            <a:r>
              <a:rPr lang="zh-CN" altLang="en-US" sz="2200" b="1" dirty="0">
                <a:solidFill>
                  <a:srgbClr val="002060"/>
                </a:solidFill>
                <a:latin typeface="+mn-ea"/>
                <a:cs typeface="Times New Roman" panose="02020603050405020304" pitchFamily="18" charset="0"/>
              </a:rPr>
              <a:t>本作品使用 </a:t>
            </a:r>
            <a:r>
              <a:rPr lang="en-US" altLang="zh-CN" sz="2200" b="1" dirty="0">
                <a:solidFill>
                  <a:srgbClr val="002060"/>
                </a:solidFill>
                <a:latin typeface="+mn-ea"/>
                <a:cs typeface="Times New Roman" panose="02020603050405020304" pitchFamily="18" charset="0"/>
              </a:rPr>
              <a:t>DeepSeek V4 Pro</a:t>
            </a:r>
            <a:r>
              <a:rPr lang="zh-CN" altLang="en-US" sz="2200" b="1" dirty="0">
                <a:solidFill>
                  <a:srgbClr val="002060"/>
                </a:solidFill>
                <a:latin typeface="+mn-ea"/>
                <a:cs typeface="Times New Roman" panose="02020603050405020304" pitchFamily="18" charset="0"/>
              </a:rPr>
              <a:t>模型辅助代码分析与文档整理，不直接生成内核代码，所有修改经队员审查与本地评测环境验证。</a:t>
            </a:r>
            <a:endParaRPr lang="en-US" altLang="zh-CN" sz="22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38" name="Shape 301"/>
          <p:cNvSpPr txBox="1"/>
          <p:nvPr/>
        </p:nvSpPr>
        <p:spPr>
          <a:xfrm>
            <a:off x="657151" y="1847713"/>
            <a:ext cx="5438849" cy="1985205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543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使用原则：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65543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所有内核代码的编写与修改由队员手动完成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生成的分析建议经逐行人工审查与本地验证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bug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最终定位基于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QEMU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串口日志、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addr2line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等真实调试输出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未参与任何评测分数的生成或修改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spcAft>
                <a:spcPct val="0"/>
              </a:spcAft>
              <a:defRPr/>
            </a:pP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301"/>
          <p:cNvSpPr txBox="1"/>
          <p:nvPr/>
        </p:nvSpPr>
        <p:spPr>
          <a:xfrm>
            <a:off x="6174010" y="1895490"/>
            <a:ext cx="5438849" cy="1850169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543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主要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65543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AI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543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交互产出：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65543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全部 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38 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篇 </a:t>
            </a:r>
            <a:r>
              <a:rPr lang="en-US" altLang="zh-CN" sz="1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mydocs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技术文档（编号 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01-38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）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包括入门指南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调试实录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修复方案 冲刺总结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均由队员提供源码与调试日志，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辅助分析、组织与排版</a:t>
            </a:r>
            <a:endParaRPr lang="en-US" altLang="zh-CN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答辩 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PPT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（由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写出初版后人工修改）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301"/>
          <p:cNvSpPr txBox="1"/>
          <p:nvPr/>
        </p:nvSpPr>
        <p:spPr>
          <a:xfrm>
            <a:off x="657150" y="3745659"/>
            <a:ext cx="5438849" cy="1985205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543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使用场景：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65543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文档撰写辅助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答辩材料的框架和排版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代码分析诊断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—backtrace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解析、</a:t>
            </a:r>
            <a:r>
              <a:rPr lang="en-US" altLang="zh-CN" sz="1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sepc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n-US" altLang="zh-CN" sz="1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stval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寄存器值分析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38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篇文档体系维护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编号管理、交叉引用索引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修复方案设计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假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PASS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逐测试修复指南的初稿生成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spcAft>
                <a:spcPct val="0"/>
              </a:spcAft>
              <a:defRPr/>
            </a:pP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301"/>
          <p:cNvSpPr txBox="1"/>
          <p:nvPr/>
        </p:nvSpPr>
        <p:spPr>
          <a:xfrm>
            <a:off x="6156759" y="3965219"/>
            <a:ext cx="5438849" cy="1985205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65543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交互方式：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65543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队员提供源代码文件、错误日志、调试输出信息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en-US" altLang="zh-C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</a:t>
            </a: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进行分析并返回根因诊断与修复建议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rPr lang="zh-CN" altLang="en-US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→ 队员对输出进行审查、修改和本地验证后纳入项目</a:t>
            </a: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spcAft>
                <a:spcPct val="0"/>
              </a:spcAft>
              <a:defRPr/>
            </a:pP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557715" y="2213242"/>
            <a:ext cx="4953007" cy="878595"/>
          </a:xfrm>
        </p:spPr>
        <p:txBody>
          <a:bodyPr/>
          <a:lstStyle/>
          <a:p>
            <a:r>
              <a:rPr lang="zh-CN" altLang="en-US"/>
              <a:t>谢谢观看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765" y="227486"/>
            <a:ext cx="1458542" cy="116244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2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3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4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5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6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7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8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9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10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11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12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13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14.xml><?xml version="1.0" encoding="utf-8"?>
<p:tagLst xmlns:p="http://schemas.openxmlformats.org/presentationml/2006/main">
  <p:tag name="KSO_WM_DIAGRAM_VIRTUALLY_FRAME" val="{&quot;height&quot;:346.7708661417323,&quot;left&quot;:57.64669291338582,&quot;top&quot;:110.7,&quot;width&quot;:844.7066929133858}"/>
</p:tagLst>
</file>

<file path=ppt/tags/tag15.xml><?xml version="1.0" encoding="utf-8"?>
<p:tagLst xmlns:p="http://schemas.openxmlformats.org/presentationml/2006/main">
  <p:tag name="KSO_WPP_MARK_KEY" val="a5d287d2-1b8e-43e9-a27b-099d67641247"/>
  <p:tag name="COMMONDATA" val="eyJoZGlkIjoiN2UyZWQ0ODA1ZDQ3MTBjMzkyMjk0N2YwZmJhNDkyOD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5796</Words>
  <Application>WPS 演示</Application>
  <PresentationFormat>宽屏</PresentationFormat>
  <Paragraphs>277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Times New Roman</vt:lpstr>
      <vt:lpstr>华文细黑</vt:lpstr>
      <vt:lpstr>思源宋体 CN Heavy</vt:lpstr>
      <vt:lpstr>Arial</vt:lpstr>
      <vt:lpstr>思源宋体 CN Light</vt:lpstr>
      <vt:lpstr>Arial Unicode MS</vt:lpstr>
      <vt:lpstr>Calibri Light</vt:lpstr>
      <vt:lpstr>Calibri</vt:lpstr>
      <vt:lpstr>Wingdings</vt:lpstr>
      <vt:lpstr>思源宋体 CN Heavy</vt:lpstr>
      <vt:lpstr>思源宋体 CN Light</vt:lpstr>
      <vt:lpstr>锦绣宋体</vt:lpstr>
      <vt:lpstr>兰米宋体</vt:lpstr>
      <vt:lpstr>Office 主题</vt:lpstr>
      <vt:lpstr>OSuperBeauty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</dc:creator>
  <cp:lastModifiedBy>WPS_1730701729</cp:lastModifiedBy>
  <cp:revision>159</cp:revision>
  <dcterms:created xsi:type="dcterms:W3CDTF">2022-06-24T11:23:00Z</dcterms:created>
  <dcterms:modified xsi:type="dcterms:W3CDTF">2026-06-30T15:33:34Z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5C463567977745C9BF55A0C844E699D7_13</vt:lpwstr>
  </property>
  <property fmtid="{D5CDD505-2E9C-101B-9397-08002B2CF9AE}" pid="3" name="KSOProductBuildVer">
    <vt:lpwstr>2052-12.1.0.26895</vt:lpwstr>
  </property>
</Properties>
</file>